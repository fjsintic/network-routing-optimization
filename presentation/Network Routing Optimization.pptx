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0" r:id="rId3"/>
    <p:sldId id="257" r:id="rId4"/>
    <p:sldId id="261" r:id="rId5"/>
    <p:sldId id="262" r:id="rId6"/>
    <p:sldId id="263" r:id="rId7"/>
    <p:sldId id="264" r:id="rId8"/>
    <p:sldId id="259" r:id="rId9"/>
    <p:sldId id="266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59B531-45B7-41D6-8C94-02F0D7ABBE4A}" v="2" dt="2026-04-26T19:11:23.378"/>
    <p1510:client id="{9BDCF021-9E2E-42C0-B82C-DD77A947F3E1}" v="594" dt="2026-04-26T22:34:45.285"/>
    <p1510:client id="{A8C80359-C4B5-47C5-9922-F39D05524E2E}" v="863" dt="2026-04-26T22:05:03.097"/>
    <p1510:client id="{E341C4C6-12BE-4561-A6CC-9A07148674BB}" v="573" dt="2026-04-26T20:23:12.9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06BCD74-7EA5-4A8A-B4F5-E4482C410356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999670BD-14C7-4ED0-94C4-5D85E185E1FA}">
      <dgm:prSet/>
      <dgm:spPr/>
      <dgm:t>
        <a:bodyPr/>
        <a:lstStyle/>
        <a:p>
          <a:r>
            <a:rPr lang="en-US"/>
            <a:t>ACO – This algorithm was terribly inconsistent, even worse than GWO. Worked correctly 50% of the time when implemented. </a:t>
          </a:r>
        </a:p>
      </dgm:t>
    </dgm:pt>
    <dgm:pt modelId="{B82D3BFB-0634-4FB0-A82E-965CD25A9D99}" type="parTrans" cxnId="{66F12132-81C5-4E8F-81AE-BBE058E05532}">
      <dgm:prSet/>
      <dgm:spPr/>
      <dgm:t>
        <a:bodyPr/>
        <a:lstStyle/>
        <a:p>
          <a:endParaRPr lang="en-US"/>
        </a:p>
      </dgm:t>
    </dgm:pt>
    <dgm:pt modelId="{8515F6A6-DC9B-454B-B85D-4E34C8C6D08D}" type="sibTrans" cxnId="{66F12132-81C5-4E8F-81AE-BBE058E05532}">
      <dgm:prSet/>
      <dgm:spPr/>
      <dgm:t>
        <a:bodyPr/>
        <a:lstStyle/>
        <a:p>
          <a:endParaRPr lang="en-US"/>
        </a:p>
      </dgm:t>
    </dgm:pt>
    <dgm:pt modelId="{B3CDF1A0-49AE-4441-9A90-73574661EBBC}">
      <dgm:prSet/>
      <dgm:spPr/>
      <dgm:t>
        <a:bodyPr/>
        <a:lstStyle/>
        <a:p>
          <a:r>
            <a:rPr lang="en-US"/>
            <a:t>OpenStreetMaps – Making a real-life implementation of this would simply be time consuming. This was overlooked as we did not think it would be too complex.</a:t>
          </a:r>
        </a:p>
      </dgm:t>
    </dgm:pt>
    <dgm:pt modelId="{6835496A-DDDF-4EBC-9E00-55068B826DC8}" type="parTrans" cxnId="{55308203-468D-481C-A5AD-7DD7B8F83B32}">
      <dgm:prSet/>
      <dgm:spPr/>
      <dgm:t>
        <a:bodyPr/>
        <a:lstStyle/>
        <a:p>
          <a:endParaRPr lang="en-US"/>
        </a:p>
      </dgm:t>
    </dgm:pt>
    <dgm:pt modelId="{A5FFB0E1-FFF1-4A64-AEA8-8425B43A0722}" type="sibTrans" cxnId="{55308203-468D-481C-A5AD-7DD7B8F83B32}">
      <dgm:prSet/>
      <dgm:spPr/>
      <dgm:t>
        <a:bodyPr/>
        <a:lstStyle/>
        <a:p>
          <a:endParaRPr lang="en-US"/>
        </a:p>
      </dgm:t>
    </dgm:pt>
    <dgm:pt modelId="{17BA2CB3-2314-4DDA-BAB4-525CADE18F6F}" type="pres">
      <dgm:prSet presAssocID="{A06BCD74-7EA5-4A8A-B4F5-E4482C410356}" presName="linear" presStyleCnt="0">
        <dgm:presLayoutVars>
          <dgm:animLvl val="lvl"/>
          <dgm:resizeHandles val="exact"/>
        </dgm:presLayoutVars>
      </dgm:prSet>
      <dgm:spPr/>
    </dgm:pt>
    <dgm:pt modelId="{1F534190-76AD-4B17-A645-707B6F8B3C63}" type="pres">
      <dgm:prSet presAssocID="{999670BD-14C7-4ED0-94C4-5D85E185E1FA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CF2219D8-82FB-4324-9B6D-C3CC48737231}" type="pres">
      <dgm:prSet presAssocID="{8515F6A6-DC9B-454B-B85D-4E34C8C6D08D}" presName="spacer" presStyleCnt="0"/>
      <dgm:spPr/>
    </dgm:pt>
    <dgm:pt modelId="{42554931-E070-4C99-95EF-22CC0B010DF6}" type="pres">
      <dgm:prSet presAssocID="{B3CDF1A0-49AE-4441-9A90-73574661EBBC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55308203-468D-481C-A5AD-7DD7B8F83B32}" srcId="{A06BCD74-7EA5-4A8A-B4F5-E4482C410356}" destId="{B3CDF1A0-49AE-4441-9A90-73574661EBBC}" srcOrd="1" destOrd="0" parTransId="{6835496A-DDDF-4EBC-9E00-55068B826DC8}" sibTransId="{A5FFB0E1-FFF1-4A64-AEA8-8425B43A0722}"/>
    <dgm:cxn modelId="{66F12132-81C5-4E8F-81AE-BBE058E05532}" srcId="{A06BCD74-7EA5-4A8A-B4F5-E4482C410356}" destId="{999670BD-14C7-4ED0-94C4-5D85E185E1FA}" srcOrd="0" destOrd="0" parTransId="{B82D3BFB-0634-4FB0-A82E-965CD25A9D99}" sibTransId="{8515F6A6-DC9B-454B-B85D-4E34C8C6D08D}"/>
    <dgm:cxn modelId="{D62A6999-83D2-4D52-B5F5-F7E154824753}" type="presOf" srcId="{B3CDF1A0-49AE-4441-9A90-73574661EBBC}" destId="{42554931-E070-4C99-95EF-22CC0B010DF6}" srcOrd="0" destOrd="0" presId="urn:microsoft.com/office/officeart/2005/8/layout/vList2"/>
    <dgm:cxn modelId="{31D9B1C9-39DE-4AAE-9357-5EC460080AAA}" type="presOf" srcId="{999670BD-14C7-4ED0-94C4-5D85E185E1FA}" destId="{1F534190-76AD-4B17-A645-707B6F8B3C63}" srcOrd="0" destOrd="0" presId="urn:microsoft.com/office/officeart/2005/8/layout/vList2"/>
    <dgm:cxn modelId="{40320FE5-FD23-48B0-8293-204F32A8451D}" type="presOf" srcId="{A06BCD74-7EA5-4A8A-B4F5-E4482C410356}" destId="{17BA2CB3-2314-4DDA-BAB4-525CADE18F6F}" srcOrd="0" destOrd="0" presId="urn:microsoft.com/office/officeart/2005/8/layout/vList2"/>
    <dgm:cxn modelId="{539C95C1-7033-4919-8F41-FDC3D716ED9E}" type="presParOf" srcId="{17BA2CB3-2314-4DDA-BAB4-525CADE18F6F}" destId="{1F534190-76AD-4B17-A645-707B6F8B3C63}" srcOrd="0" destOrd="0" presId="urn:microsoft.com/office/officeart/2005/8/layout/vList2"/>
    <dgm:cxn modelId="{6A7483AD-F353-4C36-9101-B10713E75572}" type="presParOf" srcId="{17BA2CB3-2314-4DDA-BAB4-525CADE18F6F}" destId="{CF2219D8-82FB-4324-9B6D-C3CC48737231}" srcOrd="1" destOrd="0" presId="urn:microsoft.com/office/officeart/2005/8/layout/vList2"/>
    <dgm:cxn modelId="{C1E36D22-437B-4503-B13D-44728F00E094}" type="presParOf" srcId="{17BA2CB3-2314-4DDA-BAB4-525CADE18F6F}" destId="{42554931-E070-4C99-95EF-22CC0B010DF6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534190-76AD-4B17-A645-707B6F8B3C63}">
      <dsp:nvSpPr>
        <dsp:cNvPr id="0" name=""/>
        <dsp:cNvSpPr/>
      </dsp:nvSpPr>
      <dsp:spPr>
        <a:xfrm>
          <a:off x="0" y="74294"/>
          <a:ext cx="6666833" cy="260946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ACO – This algorithm was terribly inconsistent, even worse than GWO. Worked correctly 50% of the time when implemented. </a:t>
          </a:r>
        </a:p>
      </dsp:txBody>
      <dsp:txXfrm>
        <a:off x="127384" y="201678"/>
        <a:ext cx="6412065" cy="2354697"/>
      </dsp:txXfrm>
    </dsp:sp>
    <dsp:sp modelId="{42554931-E070-4C99-95EF-22CC0B010DF6}">
      <dsp:nvSpPr>
        <dsp:cNvPr id="0" name=""/>
        <dsp:cNvSpPr/>
      </dsp:nvSpPr>
      <dsp:spPr>
        <a:xfrm>
          <a:off x="0" y="2770160"/>
          <a:ext cx="6666833" cy="2609465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OpenStreetMaps – Making a real-life implementation of this would simply be time consuming. This was overlooked as we did not think it would be too complex.</a:t>
          </a:r>
        </a:p>
      </dsp:txBody>
      <dsp:txXfrm>
        <a:off x="127384" y="2897544"/>
        <a:ext cx="6412065" cy="235469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489B7BFD-8F45-4093-AD9C-91B15B050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42BC7E5-76DB-4826-8C07-4A49B6353F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479558"/>
            <a:ext cx="1861854" cy="717514"/>
            <a:chOff x="0" y="1479558"/>
            <a:chExt cx="1861854" cy="717514"/>
          </a:xfrm>
          <a:solidFill>
            <a:schemeClr val="bg1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E16C8D8F-10E9-4498-ABDB-0F923F8B68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1479558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7963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283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7963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283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E5A83E3-8A11-4492-BB6E-F5F2240316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1919293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8208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475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8208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475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</p:grp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498F8FF6-43B4-494A-AF8F-123A4983ED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018992" y="-34538"/>
            <a:ext cx="6655405" cy="6335470"/>
          </a:xfrm>
          <a:custGeom>
            <a:avLst/>
            <a:gdLst>
              <a:gd name="connsiteX0" fmla="*/ 1825048 w 6355652"/>
              <a:gd name="connsiteY0" fmla="*/ 0 h 6050127"/>
              <a:gd name="connsiteX1" fmla="*/ 4530604 w 6355652"/>
              <a:gd name="connsiteY1" fmla="*/ 0 h 6050127"/>
              <a:gd name="connsiteX2" fmla="*/ 4692567 w 6355652"/>
              <a:gd name="connsiteY2" fmla="*/ 78022 h 6050127"/>
              <a:gd name="connsiteX3" fmla="*/ 6355652 w 6355652"/>
              <a:gd name="connsiteY3" fmla="*/ 2872301 h 6050127"/>
              <a:gd name="connsiteX4" fmla="*/ 3177826 w 6355652"/>
              <a:gd name="connsiteY4" fmla="*/ 6050127 h 6050127"/>
              <a:gd name="connsiteX5" fmla="*/ 0 w 6355652"/>
              <a:gd name="connsiteY5" fmla="*/ 2872301 h 6050127"/>
              <a:gd name="connsiteX6" fmla="*/ 1663086 w 6355652"/>
              <a:gd name="connsiteY6" fmla="*/ 78022 h 605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55652" h="6050127">
                <a:moveTo>
                  <a:pt x="1825048" y="0"/>
                </a:moveTo>
                <a:lnTo>
                  <a:pt x="4530604" y="0"/>
                </a:lnTo>
                <a:lnTo>
                  <a:pt x="4692567" y="78022"/>
                </a:lnTo>
                <a:cubicBezTo>
                  <a:pt x="5683175" y="616152"/>
                  <a:pt x="6355652" y="1665694"/>
                  <a:pt x="6355652" y="2872301"/>
                </a:cubicBezTo>
                <a:cubicBezTo>
                  <a:pt x="6355652" y="4627366"/>
                  <a:pt x="4932891" y="6050127"/>
                  <a:pt x="3177826" y="6050127"/>
                </a:cubicBezTo>
                <a:cubicBezTo>
                  <a:pt x="1422761" y="6050127"/>
                  <a:pt x="0" y="4627366"/>
                  <a:pt x="0" y="2872301"/>
                </a:cubicBezTo>
                <a:cubicBezTo>
                  <a:pt x="0" y="1665694"/>
                  <a:pt x="672477" y="616152"/>
                  <a:pt x="1663086" y="78022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2B06059C-C357-4011-82B9-9C01063013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5194" y="-23905"/>
            <a:ext cx="6705251" cy="6318526"/>
          </a:xfrm>
          <a:custGeom>
            <a:avLst/>
            <a:gdLst>
              <a:gd name="connsiteX0" fmla="*/ 1825048 w 6355652"/>
              <a:gd name="connsiteY0" fmla="*/ 0 h 6050127"/>
              <a:gd name="connsiteX1" fmla="*/ 4530604 w 6355652"/>
              <a:gd name="connsiteY1" fmla="*/ 0 h 6050127"/>
              <a:gd name="connsiteX2" fmla="*/ 4692567 w 6355652"/>
              <a:gd name="connsiteY2" fmla="*/ 78022 h 6050127"/>
              <a:gd name="connsiteX3" fmla="*/ 6355652 w 6355652"/>
              <a:gd name="connsiteY3" fmla="*/ 2872301 h 6050127"/>
              <a:gd name="connsiteX4" fmla="*/ 3177826 w 6355652"/>
              <a:gd name="connsiteY4" fmla="*/ 6050127 h 6050127"/>
              <a:gd name="connsiteX5" fmla="*/ 0 w 6355652"/>
              <a:gd name="connsiteY5" fmla="*/ 2872301 h 6050127"/>
              <a:gd name="connsiteX6" fmla="*/ 1663086 w 6355652"/>
              <a:gd name="connsiteY6" fmla="*/ 78022 h 605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55652" h="6050127">
                <a:moveTo>
                  <a:pt x="1825048" y="0"/>
                </a:moveTo>
                <a:lnTo>
                  <a:pt x="4530604" y="0"/>
                </a:lnTo>
                <a:lnTo>
                  <a:pt x="4692567" y="78022"/>
                </a:lnTo>
                <a:cubicBezTo>
                  <a:pt x="5683175" y="616152"/>
                  <a:pt x="6355652" y="1665694"/>
                  <a:pt x="6355652" y="2872301"/>
                </a:cubicBezTo>
                <a:cubicBezTo>
                  <a:pt x="6355652" y="4627366"/>
                  <a:pt x="4932891" y="6050127"/>
                  <a:pt x="3177826" y="6050127"/>
                </a:cubicBezTo>
                <a:cubicBezTo>
                  <a:pt x="1422761" y="6050127"/>
                  <a:pt x="0" y="4627366"/>
                  <a:pt x="0" y="2872301"/>
                </a:cubicBezTo>
                <a:cubicBezTo>
                  <a:pt x="0" y="1665694"/>
                  <a:pt x="672477" y="616152"/>
                  <a:pt x="1663086" y="78022"/>
                </a:cubicBezTo>
                <a:close/>
              </a:path>
            </a:pathLst>
          </a:cu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5AFEC601-A132-47EE-B0C2-B38ACD9FCE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86886" y="-23905"/>
            <a:ext cx="6705251" cy="6215019"/>
          </a:xfrm>
          <a:custGeom>
            <a:avLst/>
            <a:gdLst>
              <a:gd name="connsiteX0" fmla="*/ 1529549 w 6355652"/>
              <a:gd name="connsiteY0" fmla="*/ 0 h 5890980"/>
              <a:gd name="connsiteX1" fmla="*/ 4826104 w 6355652"/>
              <a:gd name="connsiteY1" fmla="*/ 0 h 5890980"/>
              <a:gd name="connsiteX2" fmla="*/ 4954579 w 6355652"/>
              <a:gd name="connsiteY2" fmla="*/ 78051 h 5890980"/>
              <a:gd name="connsiteX3" fmla="*/ 6355652 w 6355652"/>
              <a:gd name="connsiteY3" fmla="*/ 2713154 h 5890980"/>
              <a:gd name="connsiteX4" fmla="*/ 3177826 w 6355652"/>
              <a:gd name="connsiteY4" fmla="*/ 5890980 h 5890980"/>
              <a:gd name="connsiteX5" fmla="*/ 0 w 6355652"/>
              <a:gd name="connsiteY5" fmla="*/ 2713154 h 5890980"/>
              <a:gd name="connsiteX6" fmla="*/ 1401073 w 6355652"/>
              <a:gd name="connsiteY6" fmla="*/ 78051 h 5890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55652" h="5890980">
                <a:moveTo>
                  <a:pt x="1529549" y="0"/>
                </a:moveTo>
                <a:lnTo>
                  <a:pt x="4826104" y="0"/>
                </a:lnTo>
                <a:lnTo>
                  <a:pt x="4954579" y="78051"/>
                </a:lnTo>
                <a:cubicBezTo>
                  <a:pt x="5799886" y="649129"/>
                  <a:pt x="6355652" y="1616239"/>
                  <a:pt x="6355652" y="2713154"/>
                </a:cubicBezTo>
                <a:cubicBezTo>
                  <a:pt x="6355652" y="4468219"/>
                  <a:pt x="4932891" y="5890980"/>
                  <a:pt x="3177826" y="5890980"/>
                </a:cubicBezTo>
                <a:cubicBezTo>
                  <a:pt x="1422761" y="5890980"/>
                  <a:pt x="0" y="4468219"/>
                  <a:pt x="0" y="2713154"/>
                </a:cubicBezTo>
                <a:cubicBezTo>
                  <a:pt x="0" y="1616239"/>
                  <a:pt x="555766" y="649129"/>
                  <a:pt x="1401073" y="78051"/>
                </a:cubicBezTo>
                <a:close/>
              </a:path>
            </a:pathLst>
          </a:cu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428326-542D-E0E1-C520-8BC12388E0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42409" y="895483"/>
            <a:ext cx="5786232" cy="3011190"/>
          </a:xfrm>
        </p:spPr>
        <p:txBody>
          <a:bodyPr>
            <a:normAutofit/>
          </a:bodyPr>
          <a:lstStyle/>
          <a:p>
            <a:r>
              <a:rPr lang="en-US" sz="5400">
                <a:solidFill>
                  <a:schemeClr val="bg1"/>
                </a:solidFill>
              </a:rPr>
              <a:t>Network Routing Optimization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0EA553-498B-9691-9A45-2140CD1674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66270" y="4142096"/>
            <a:ext cx="5338511" cy="1055142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000">
                <a:solidFill>
                  <a:schemeClr val="bg1"/>
                </a:solidFill>
              </a:rPr>
              <a:t>Franklin Sintic &amp; Miller Kites</a:t>
            </a:r>
          </a:p>
        </p:txBody>
      </p:sp>
      <p:sp>
        <p:nvSpPr>
          <p:cNvPr id="41" name="Graphic 212">
            <a:extLst>
              <a:ext uri="{FF2B5EF4-FFF2-40B4-BE49-F238E27FC236}">
                <a16:creationId xmlns:a16="http://schemas.microsoft.com/office/drawing/2014/main" id="{279CAF82-0ECF-42BE-8F37-F71941E5D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34716" y="188494"/>
            <a:ext cx="1048371" cy="1048371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42" name="Graphic 212">
            <a:extLst>
              <a:ext uri="{FF2B5EF4-FFF2-40B4-BE49-F238E27FC236}">
                <a16:creationId xmlns:a16="http://schemas.microsoft.com/office/drawing/2014/main" id="{218E095B-4870-4AD5-9C41-C16D595235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34716" y="188494"/>
            <a:ext cx="1048371" cy="1048371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grpSp>
        <p:nvGrpSpPr>
          <p:cNvPr id="24" name="Graphic 185">
            <a:extLst>
              <a:ext uri="{FF2B5EF4-FFF2-40B4-BE49-F238E27FC236}">
                <a16:creationId xmlns:a16="http://schemas.microsoft.com/office/drawing/2014/main" id="{FB9739EB-7F66-433D-841F-AB3CD1870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583101" y="3578317"/>
            <a:ext cx="1054466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104F2BBD-A005-4DCB-9566-F2351050BE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B00DEC7-198B-49D1-98FD-018F3ECFC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F14DFC82-B3B3-468E-91B3-1302CFC684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3250EFE-214E-4B8E-AF96-036A514FFB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AD058EBE-D4A5-4C43-B170-6A451F87A7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1" name="Oval 30">
            <a:extLst>
              <a:ext uri="{FF2B5EF4-FFF2-40B4-BE49-F238E27FC236}">
                <a16:creationId xmlns:a16="http://schemas.microsoft.com/office/drawing/2014/main" id="{033BC44A-0661-43B4-9C14-FD5963C22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44525" y="4910353"/>
            <a:ext cx="468090" cy="468090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E8CB2F0-2F5A-4EBD-B214-E0309C31F5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44525" y="4910353"/>
            <a:ext cx="468090" cy="468090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FFD3887D-244B-4EC4-9208-E304984C5D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422467" y="4200769"/>
            <a:ext cx="2769534" cy="2657232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97224C31-855E-4593-8A58-5B2B0CC4F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422467" y="4200769"/>
            <a:ext cx="2769534" cy="2657232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3671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E69589-D936-07B3-FE8F-B51AA64DA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7498A8-879C-F71D-C456-96C5F8995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n-US" sz="5400"/>
              <a:t>Introduction to the Problem</a:t>
            </a:r>
          </a:p>
        </p:txBody>
      </p:sp>
      <p:sp>
        <p:nvSpPr>
          <p:cNvPr id="11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7E8BDE-8C8E-C1F9-B296-10CADEAF03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200"/>
              <a:t>The Network Routing Optimization problem is essentially determining the most efficient path for data whilst minimizing cost and delay.</a:t>
            </a:r>
          </a:p>
          <a:p>
            <a:r>
              <a:rPr lang="en-US" sz="2200"/>
              <a:t>This is be represented by graphs and graph traversal algorithms.</a:t>
            </a:r>
          </a:p>
        </p:txBody>
      </p:sp>
      <p:pic>
        <p:nvPicPr>
          <p:cNvPr id="4" name="Picture 3" descr="How to Use GPS Effectively: Unlock The Full Potential">
            <a:extLst>
              <a:ext uri="{FF2B5EF4-FFF2-40B4-BE49-F238E27FC236}">
                <a16:creationId xmlns:a16="http://schemas.microsoft.com/office/drawing/2014/main" id="{55EDDBC6-79EE-551A-93B5-041DD23985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230" r="22350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021412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7" name="Right Triangle 26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9345D5-4422-8526-1FDD-46D06345E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900" y="1188637"/>
            <a:ext cx="3141430" cy="4480726"/>
          </a:xfrm>
        </p:spPr>
        <p:txBody>
          <a:bodyPr>
            <a:normAutofit/>
          </a:bodyPr>
          <a:lstStyle/>
          <a:p>
            <a:pPr algn="r"/>
            <a:r>
              <a:rPr lang="en-US" sz="6600"/>
              <a:t>Project Scope and Goals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DD433F-A0C9-B8F2-D25C-2CA3B1C5F8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4795584" cy="418054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400"/>
              <a:t>Implement at least 3 standard algorithms.</a:t>
            </a:r>
          </a:p>
          <a:p>
            <a:r>
              <a:rPr lang="en-US" sz="2400"/>
              <a:t>Implements at least 1 nature-inspired algorithm.</a:t>
            </a:r>
          </a:p>
          <a:p>
            <a:r>
              <a:rPr lang="en-US" sz="2400"/>
              <a:t>Compare runtime and efficiency between them with either -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Synthetic Graphs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OpenStreetMaps – The Goal with this is to provide a "real-life" example</a:t>
            </a:r>
          </a:p>
          <a:p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775102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FF9B80-D7B5-BD73-1BE4-1A58E044D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Pins pinned on a white surface and connecting a black thread">
            <a:extLst>
              <a:ext uri="{FF2B5EF4-FFF2-40B4-BE49-F238E27FC236}">
                <a16:creationId xmlns:a16="http://schemas.microsoft.com/office/drawing/2014/main" id="{3774FBB5-7B34-9B22-2786-4CC767FBAAF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42" r="35379" b="-3"/>
          <a:stretch>
            <a:fillRect/>
          </a:stretch>
        </p:blipFill>
        <p:spPr>
          <a:xfrm>
            <a:off x="6103027" y="10"/>
            <a:ext cx="6088971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9B296B9-C5A5-4E4F-9B60-C907B5F14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103025" cy="6858000"/>
          </a:xfrm>
          <a:prstGeom prst="rect">
            <a:avLst/>
          </a:prstGeom>
          <a:ln>
            <a:noFill/>
          </a:ln>
          <a:effectLst>
            <a:outerShdw blurRad="889000" dist="406400" dir="2154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D0300FD3-5AF1-6305-15FA-9078072672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103025" cy="2285995"/>
          </a:xfrm>
          <a:prstGeom prst="rect">
            <a:avLst/>
          </a:prstGeom>
          <a:ln>
            <a:noFill/>
          </a:ln>
          <a:effectLst>
            <a:outerShdw blurRad="254000" dist="127000" dir="5460000" sx="92000" sy="92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7BEAE7-6E54-EE3C-01F1-CFB610C8E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328512"/>
            <a:ext cx="4778387" cy="1628970"/>
          </a:xfrm>
        </p:spPr>
        <p:txBody>
          <a:bodyPr anchor="ctr">
            <a:normAutofit/>
          </a:bodyPr>
          <a:lstStyle/>
          <a:p>
            <a:r>
              <a:rPr lang="en-US" sz="4000"/>
              <a:t>Dijkstra &amp; Bellman-Ford Algorithms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08019B-6F2E-E100-6F7D-093EDD90E0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1" y="2884929"/>
            <a:ext cx="4659756" cy="337413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/>
              <a:t>Dijkstra's Algorithm: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700"/>
              <a:t>Calculates the minimum cost from a source node to every other node in the graph.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700"/>
              <a:t>We can adjust this to make it print the shortest path to our desired node</a:t>
            </a:r>
          </a:p>
          <a:p>
            <a:r>
              <a:rPr lang="en-US" sz="1700"/>
              <a:t>Bellman-Ford Algorithm: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700"/>
              <a:t>Functions the same as Dijkstra, however it is able to compute negative weights. 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700"/>
              <a:t>We didn’t add any negative weights in testing or data collection.</a:t>
            </a:r>
          </a:p>
        </p:txBody>
      </p:sp>
    </p:spTree>
    <p:extLst>
      <p:ext uri="{BB962C8B-B14F-4D97-AF65-F5344CB8AC3E}">
        <p14:creationId xmlns:p14="http://schemas.microsoft.com/office/powerpoint/2010/main" val="766151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487F95-B4D7-C714-AB40-8DA475656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180B1-9821-226B-ECD7-A871CE8FB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3752849"/>
            <a:ext cx="3290887" cy="2452687"/>
          </a:xfrm>
        </p:spPr>
        <p:txBody>
          <a:bodyPr anchor="ctr">
            <a:normAutofit/>
          </a:bodyPr>
          <a:lstStyle/>
          <a:p>
            <a:r>
              <a:rPr lang="en-US" sz="3600"/>
              <a:t>A* Algorithm</a:t>
            </a:r>
          </a:p>
        </p:txBody>
      </p:sp>
      <p:pic>
        <p:nvPicPr>
          <p:cNvPr id="4" name="Picture 3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4C62BFE4-DC59-37D3-9708-6D1F00A579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072" b="1"/>
          <a:stretch>
            <a:fillRect/>
          </a:stretch>
        </p:blipFill>
        <p:spPr>
          <a:xfrm>
            <a:off x="20" y="10"/>
            <a:ext cx="12191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EC3C4F-3B07-30A4-F12B-AECD08A0A5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3982" y="3752850"/>
            <a:ext cx="7485413" cy="245268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500"/>
              <a:t>A* Algorithm: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500"/>
              <a:t>Finds shortest path from one node to another.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500"/>
              <a:t>It does not search through the nodes like Dijkstra, instead uses a heurstic.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500"/>
              <a:t>f(n) = g(n)+h(n)</a:t>
            </a:r>
          </a:p>
          <a:p>
            <a:pPr lvl="2">
              <a:buFont typeface="Wingdings" panose="020B0604020202020204" pitchFamily="34" charset="0"/>
              <a:buChar char="§"/>
            </a:pPr>
            <a:r>
              <a:rPr lang="en-US" sz="1500"/>
              <a:t>g(n) = total path cost from start</a:t>
            </a:r>
          </a:p>
          <a:p>
            <a:pPr lvl="2">
              <a:buFont typeface="Wingdings" panose="020B0604020202020204" pitchFamily="34" charset="0"/>
              <a:buChar char="§"/>
            </a:pPr>
            <a:r>
              <a:rPr lang="en-US" sz="1500"/>
              <a:t>h(n) = cost remaining to get to target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500"/>
              <a:t>Heuristics Options in Code:</a:t>
            </a:r>
          </a:p>
          <a:p>
            <a:pPr lvl="2">
              <a:buFont typeface="Wingdings" panose="020B0604020202020204" pitchFamily="34" charset="0"/>
              <a:buChar char="§"/>
            </a:pPr>
            <a:r>
              <a:rPr lang="en-US" sz="1500"/>
              <a:t>Return 1: Slight guidance, follows Dijkstra</a:t>
            </a:r>
          </a:p>
          <a:p>
            <a:pPr lvl="2">
              <a:buFont typeface="Wingdings" panose="020B0604020202020204" pitchFamily="34" charset="0"/>
              <a:buChar char="§"/>
            </a:pPr>
            <a:r>
              <a:rPr lang="en-US" sz="1500"/>
              <a:t>Return 0: Exactly like Dijkstra</a:t>
            </a:r>
          </a:p>
        </p:txBody>
      </p:sp>
    </p:spTree>
    <p:extLst>
      <p:ext uri="{BB962C8B-B14F-4D97-AF65-F5344CB8AC3E}">
        <p14:creationId xmlns:p14="http://schemas.microsoft.com/office/powerpoint/2010/main" val="22145503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8" name="Freeform: Shape 17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0" name="Freeform: Shape 19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4E1E3B-3988-4F17-A034-DD6CB49E1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094" y="1161288"/>
            <a:ext cx="3438144" cy="1239012"/>
          </a:xfrm>
        </p:spPr>
        <p:txBody>
          <a:bodyPr anchor="ctr">
            <a:normAutofit/>
          </a:bodyPr>
          <a:lstStyle/>
          <a:p>
            <a:r>
              <a:rPr lang="en-US" sz="2800"/>
              <a:t>GWO Algorithm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0608D-359F-D311-E2B5-68017AA814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094" y="2718054"/>
            <a:ext cx="3438906" cy="320725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600"/>
              <a:t>Grey Wolf Algorithm simulates a wolf pack. In code, it generates as many solutions and keeps the best one found.</a:t>
            </a:r>
          </a:p>
          <a:p>
            <a:r>
              <a:rPr lang="en-US" sz="1600"/>
              <a:t>Over iterations, each wolf generated a random path from one node to another. After comparison, that was set as the best path.</a:t>
            </a:r>
          </a:p>
          <a:p>
            <a:r>
              <a:rPr lang="en-US" sz="1600"/>
              <a:t>Included for inclusion of a nature-inspired algorithm and to compare the 2 heurstic algorithms.</a:t>
            </a:r>
          </a:p>
          <a:p>
            <a:pPr marL="457200" lvl="1" indent="0">
              <a:buNone/>
            </a:pPr>
            <a:endParaRPr lang="en-US" sz="1600"/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9192E98-8BEA-E5E2-F15E-30726CB242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1731485"/>
            <a:ext cx="6922008" cy="3495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2085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AD038-CBD6-59D2-9D8B-C66E22E94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en-US"/>
              <a:t>ACO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6F3A15-75DF-634F-1D60-A0D2E1AC5A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000"/>
              <a:t>The Ant Colony Optimization algorithm takes an approach to how ants leave pheromones to certain paths they take to food.</a:t>
            </a:r>
          </a:p>
          <a:p>
            <a:r>
              <a:rPr lang="en-US" sz="2000"/>
              <a:t>In code, after many ants use a path, it leaves a "pheromone strength", which will make it the higher priority path – future ants will take this path.</a:t>
            </a:r>
          </a:p>
          <a:p>
            <a:r>
              <a:rPr lang="en-US" sz="2000"/>
              <a:t>Over iterations, one path gets highlighted with the pheromones.</a:t>
            </a:r>
          </a:p>
        </p:txBody>
      </p:sp>
      <p:pic>
        <p:nvPicPr>
          <p:cNvPr id="4" name="Picture 3" descr="Intelligent selective disassembly using the ant colony algorithm | AI EDAM  | Cambridge Core">
            <a:extLst>
              <a:ext uri="{FF2B5EF4-FFF2-40B4-BE49-F238E27FC236}">
                <a16:creationId xmlns:a16="http://schemas.microsoft.com/office/drawing/2014/main" id="{2357387B-FCF2-75A8-5074-5BA7B6D0A5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367" y="2455302"/>
            <a:ext cx="4788505" cy="3215139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603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9345D5-4422-8526-1FDD-46D06345E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5400"/>
              <a:t>Runtime Graphs: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DD433F-A0C9-B8F2-D25C-2CA3B1C5F8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200"/>
              <a:t>This big graph contains the average time for each algorithm to find the best path to our target node (100-999).</a:t>
            </a:r>
          </a:p>
          <a:p>
            <a:r>
              <a:rPr lang="en-US" sz="2200"/>
              <a:t>These times are a calculated average between 3 runs.</a:t>
            </a:r>
          </a:p>
        </p:txBody>
      </p:sp>
      <p:pic>
        <p:nvPicPr>
          <p:cNvPr id="5" name="Content Placeholder 3">
            <a:extLst>
              <a:ext uri="{FF2B5EF4-FFF2-40B4-BE49-F238E27FC236}">
                <a16:creationId xmlns:a16="http://schemas.microsoft.com/office/drawing/2014/main" id="{C956607C-6A51-4FF0-6880-D483FF2EB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354212"/>
            <a:ext cx="6903720" cy="4149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5370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13E6F87C-D8E3-439E-A691-67050AEC98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58B3569-73B2-4D05-8E95-886A6EE17F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83133-EF8E-3D36-2958-8930E30B7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98246"/>
            <a:ext cx="4412419" cy="3626217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8000">
                <a:solidFill>
                  <a:srgbClr val="FFFFFF"/>
                </a:solidFill>
              </a:rPr>
              <a:t>Tables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2485EE-6AE2-F719-DCF3-3DDEF367501A}"/>
              </a:ext>
            </a:extLst>
          </p:cNvPr>
          <p:cNvSpPr txBox="1"/>
          <p:nvPr/>
        </p:nvSpPr>
        <p:spPr>
          <a:xfrm>
            <a:off x="457200" y="5350213"/>
            <a:ext cx="4412417" cy="1031537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Ctr="0" forceAA="0" compatLnSpc="1">
            <a:prstTxWarp prst="textNoShape">
              <a:avLst/>
            </a:prstTxWarp>
            <a:normAutofit/>
          </a:bodyPr>
          <a:lstStyle/>
          <a:p>
            <a:pPr algn="r">
              <a:lnSpc>
                <a:spcPct val="90000"/>
              </a:lnSpc>
              <a:spcBef>
                <a:spcPts val="1000"/>
              </a:spcBef>
            </a:pPr>
            <a:r>
              <a:rPr lang="en-US" sz="2200">
                <a:solidFill>
                  <a:srgbClr val="FFFFFF"/>
                </a:solidFill>
              </a:rPr>
              <a:t>These are the tables the correlate with the graph on the previous slide.</a:t>
            </a:r>
          </a:p>
        </p:txBody>
      </p:sp>
      <p:sp>
        <p:nvSpPr>
          <p:cNvPr id="18" name="Graphic 17">
            <a:extLst>
              <a:ext uri="{FF2B5EF4-FFF2-40B4-BE49-F238E27FC236}">
                <a16:creationId xmlns:a16="http://schemas.microsoft.com/office/drawing/2014/main" id="{B71758F4-3F46-45DA-8AC5-4E508DA080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12034" y="1267063"/>
            <a:ext cx="139037" cy="139039"/>
          </a:xfrm>
          <a:custGeom>
            <a:avLst/>
            <a:gdLst>
              <a:gd name="connsiteX0" fmla="*/ 129600 w 139037"/>
              <a:gd name="connsiteY0" fmla="*/ 60082 h 139039"/>
              <a:gd name="connsiteX1" fmla="*/ 78955 w 139037"/>
              <a:gd name="connsiteY1" fmla="*/ 60082 h 139039"/>
              <a:gd name="connsiteX2" fmla="*/ 78955 w 139037"/>
              <a:gd name="connsiteY2" fmla="*/ 9437 h 139039"/>
              <a:gd name="connsiteX3" fmla="*/ 69519 w 139037"/>
              <a:gd name="connsiteY3" fmla="*/ 0 h 139039"/>
              <a:gd name="connsiteX4" fmla="*/ 60082 w 139037"/>
              <a:gd name="connsiteY4" fmla="*/ 9437 h 139039"/>
              <a:gd name="connsiteX5" fmla="*/ 60082 w 139037"/>
              <a:gd name="connsiteY5" fmla="*/ 60082 h 139039"/>
              <a:gd name="connsiteX6" fmla="*/ 9437 w 139037"/>
              <a:gd name="connsiteY6" fmla="*/ 60082 h 139039"/>
              <a:gd name="connsiteX7" fmla="*/ 0 w 139037"/>
              <a:gd name="connsiteY7" fmla="*/ 69520 h 139039"/>
              <a:gd name="connsiteX8" fmla="*/ 9437 w 139037"/>
              <a:gd name="connsiteY8" fmla="*/ 78957 h 139039"/>
              <a:gd name="connsiteX9" fmla="*/ 60082 w 139037"/>
              <a:gd name="connsiteY9" fmla="*/ 78957 h 139039"/>
              <a:gd name="connsiteX10" fmla="*/ 60082 w 139037"/>
              <a:gd name="connsiteY10" fmla="*/ 129602 h 139039"/>
              <a:gd name="connsiteX11" fmla="*/ 69519 w 139037"/>
              <a:gd name="connsiteY11" fmla="*/ 139039 h 139039"/>
              <a:gd name="connsiteX12" fmla="*/ 78955 w 139037"/>
              <a:gd name="connsiteY12" fmla="*/ 129602 h 139039"/>
              <a:gd name="connsiteX13" fmla="*/ 78955 w 139037"/>
              <a:gd name="connsiteY13" fmla="*/ 78957 h 139039"/>
              <a:gd name="connsiteX14" fmla="*/ 129600 w 139037"/>
              <a:gd name="connsiteY14" fmla="*/ 78957 h 139039"/>
              <a:gd name="connsiteX15" fmla="*/ 139037 w 139037"/>
              <a:gd name="connsiteY15" fmla="*/ 69520 h 139039"/>
              <a:gd name="connsiteX16" fmla="*/ 129600 w 139037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7" h="139039">
                <a:moveTo>
                  <a:pt x="129600" y="60082"/>
                </a:moveTo>
                <a:lnTo>
                  <a:pt x="78955" y="60082"/>
                </a:lnTo>
                <a:lnTo>
                  <a:pt x="78955" y="9437"/>
                </a:lnTo>
                <a:cubicBezTo>
                  <a:pt x="78955" y="4225"/>
                  <a:pt x="74730" y="0"/>
                  <a:pt x="69519" y="0"/>
                </a:cubicBezTo>
                <a:cubicBezTo>
                  <a:pt x="64307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7" y="139039"/>
                  <a:pt x="69519" y="139039"/>
                </a:cubicBezTo>
                <a:cubicBezTo>
                  <a:pt x="74730" y="139039"/>
                  <a:pt x="78955" y="134814"/>
                  <a:pt x="78955" y="129602"/>
                </a:cubicBezTo>
                <a:lnTo>
                  <a:pt x="78955" y="78957"/>
                </a:lnTo>
                <a:lnTo>
                  <a:pt x="129600" y="78957"/>
                </a:lnTo>
                <a:cubicBezTo>
                  <a:pt x="134812" y="78957"/>
                  <a:pt x="139037" y="74731"/>
                  <a:pt x="139037" y="69520"/>
                </a:cubicBezTo>
                <a:cubicBezTo>
                  <a:pt x="139037" y="64308"/>
                  <a:pt x="134812" y="60082"/>
                  <a:pt x="129600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322" y="1589368"/>
            <a:ext cx="0" cy="5259754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0A28E79-DCD2-DFD1-003F-9A9197798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914" y="1645161"/>
            <a:ext cx="5354583" cy="1112257"/>
          </a:xfrm>
          <a:prstGeom prst="rect">
            <a:avLst/>
          </a:prstGeom>
        </p:spPr>
      </p:pic>
      <p:sp>
        <p:nvSpPr>
          <p:cNvPr id="22" name="Graphic 21">
            <a:extLst>
              <a:ext uri="{FF2B5EF4-FFF2-40B4-BE49-F238E27FC236}">
                <a16:creationId xmlns:a16="http://schemas.microsoft.com/office/drawing/2014/main" id="{8D61482F-F3C5-4D66-8C5D-C6BBE3E127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752801" y="1659316"/>
            <a:ext cx="127713" cy="127714"/>
          </a:xfrm>
          <a:custGeom>
            <a:avLst/>
            <a:gdLst>
              <a:gd name="connsiteX0" fmla="*/ 63857 w 127713"/>
              <a:gd name="connsiteY0" fmla="*/ 18874 h 127714"/>
              <a:gd name="connsiteX1" fmla="*/ 108839 w 127713"/>
              <a:gd name="connsiteY1" fmla="*/ 63857 h 127714"/>
              <a:gd name="connsiteX2" fmla="*/ 63857 w 127713"/>
              <a:gd name="connsiteY2" fmla="*/ 108840 h 127714"/>
              <a:gd name="connsiteX3" fmla="*/ 18874 w 127713"/>
              <a:gd name="connsiteY3" fmla="*/ 63857 h 127714"/>
              <a:gd name="connsiteX4" fmla="*/ 63857 w 127713"/>
              <a:gd name="connsiteY4" fmla="*/ 18874 h 127714"/>
              <a:gd name="connsiteX5" fmla="*/ 63857 w 127713"/>
              <a:gd name="connsiteY5" fmla="*/ 0 h 127714"/>
              <a:gd name="connsiteX6" fmla="*/ 0 w 127713"/>
              <a:gd name="connsiteY6" fmla="*/ 63857 h 127714"/>
              <a:gd name="connsiteX7" fmla="*/ 63857 w 127713"/>
              <a:gd name="connsiteY7" fmla="*/ 127714 h 127714"/>
              <a:gd name="connsiteX8" fmla="*/ 127713 w 127713"/>
              <a:gd name="connsiteY8" fmla="*/ 63857 h 127714"/>
              <a:gd name="connsiteX9" fmla="*/ 63857 w 127713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4">
                <a:moveTo>
                  <a:pt x="63857" y="18874"/>
                </a:moveTo>
                <a:cubicBezTo>
                  <a:pt x="88700" y="18874"/>
                  <a:pt x="108839" y="39014"/>
                  <a:pt x="108839" y="63857"/>
                </a:cubicBezTo>
                <a:cubicBezTo>
                  <a:pt x="108839" y="88700"/>
                  <a:pt x="88700" y="108840"/>
                  <a:pt x="63857" y="108840"/>
                </a:cubicBezTo>
                <a:cubicBezTo>
                  <a:pt x="39013" y="108840"/>
                  <a:pt x="18874" y="88700"/>
                  <a:pt x="18874" y="63857"/>
                </a:cubicBezTo>
                <a:cubicBezTo>
                  <a:pt x="18898" y="39024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4E3C7D1-E55D-91CD-D9A7-93D069647C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914" y="2853272"/>
            <a:ext cx="5402390" cy="1112257"/>
          </a:xfrm>
          <a:prstGeom prst="rect">
            <a:avLst/>
          </a:prstGeom>
        </p:spPr>
      </p:pic>
      <p:pic>
        <p:nvPicPr>
          <p:cNvPr id="10" name="Picture 9" descr="A screenshot of a calculator&#10;&#10;AI-generated content may be incorrect.">
            <a:extLst>
              <a:ext uri="{FF2B5EF4-FFF2-40B4-BE49-F238E27FC236}">
                <a16:creationId xmlns:a16="http://schemas.microsoft.com/office/drawing/2014/main" id="{473D6F7E-895D-9511-C065-46F7EE8C50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6925" y="4061383"/>
            <a:ext cx="5307609" cy="1112257"/>
          </a:xfrm>
          <a:prstGeom prst="rect">
            <a:avLst/>
          </a:prstGeom>
        </p:spPr>
      </p:pic>
      <p:pic>
        <p:nvPicPr>
          <p:cNvPr id="13" name="Picture 12" descr="A white grid with black numbers&#10;&#10;AI-generated content may be incorrect.">
            <a:extLst>
              <a:ext uri="{FF2B5EF4-FFF2-40B4-BE49-F238E27FC236}">
                <a16:creationId xmlns:a16="http://schemas.microsoft.com/office/drawing/2014/main" id="{DB02D4D4-0A47-871D-F74A-E641FAC9A1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6925" y="5269493"/>
            <a:ext cx="5412321" cy="1112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60959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A53FA2-F067-30F7-557E-60D4279F4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What Went Wrong?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8EFD467-0B15-6FC7-D3D8-B234FD8B91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44573617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936405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10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office theme</vt:lpstr>
      <vt:lpstr>Network Routing Optimization</vt:lpstr>
      <vt:lpstr>Introduction to the Problem</vt:lpstr>
      <vt:lpstr>Project Scope and Goals</vt:lpstr>
      <vt:lpstr>Dijkstra &amp; Bellman-Ford Algorithms</vt:lpstr>
      <vt:lpstr>A* Algorithm</vt:lpstr>
      <vt:lpstr>GWO Algorithm</vt:lpstr>
      <vt:lpstr>ACO Algorithm</vt:lpstr>
      <vt:lpstr>Runtime Graphs:</vt:lpstr>
      <vt:lpstr>Tables</vt:lpstr>
      <vt:lpstr>What Went Wrong?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2</cp:revision>
  <dcterms:created xsi:type="dcterms:W3CDTF">2026-04-26T19:11:17Z</dcterms:created>
  <dcterms:modified xsi:type="dcterms:W3CDTF">2026-04-27T16:14:19Z</dcterms:modified>
</cp:coreProperties>
</file>