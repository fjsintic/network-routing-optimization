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0" r:id="rId3"/>
    <p:sldId id="257" r:id="rId4"/>
    <p:sldId id="261" r:id="rId5"/>
    <p:sldId id="262" r:id="rId6"/>
    <p:sldId id="263" r:id="rId7"/>
    <p:sldId id="264" r:id="rId8"/>
    <p:sldId id="266" r:id="rId9"/>
    <p:sldId id="269" r:id="rId10"/>
    <p:sldId id="270" r:id="rId11"/>
    <p:sldId id="259" r:id="rId12"/>
    <p:sldId id="265" r:id="rId13"/>
    <p:sldId id="268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251C2-4B93-44AB-8656-2BE60CBAC27D}" v="90" dt="2026-04-30T16:20:11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6BCD74-7EA5-4A8A-B4F5-E4482C41035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9670BD-14C7-4ED0-94C4-5D85E185E1FA}">
      <dgm:prSet/>
      <dgm:spPr/>
      <dgm:t>
        <a:bodyPr/>
        <a:lstStyle/>
        <a:p>
          <a:r>
            <a:rPr lang="en-US"/>
            <a:t>ACO – This algorithm was terribly inconsistent, even worse than GWO. Worked correctly 50% of the time when implemented. </a:t>
          </a:r>
        </a:p>
      </dgm:t>
    </dgm:pt>
    <dgm:pt modelId="{B82D3BFB-0634-4FB0-A82E-965CD25A9D99}" type="parTrans" cxnId="{66F12132-81C5-4E8F-81AE-BBE058E05532}">
      <dgm:prSet/>
      <dgm:spPr/>
      <dgm:t>
        <a:bodyPr/>
        <a:lstStyle/>
        <a:p>
          <a:endParaRPr lang="en-US"/>
        </a:p>
      </dgm:t>
    </dgm:pt>
    <dgm:pt modelId="{8515F6A6-DC9B-454B-B85D-4E34C8C6D08D}" type="sibTrans" cxnId="{66F12132-81C5-4E8F-81AE-BBE058E05532}">
      <dgm:prSet/>
      <dgm:spPr/>
      <dgm:t>
        <a:bodyPr/>
        <a:lstStyle/>
        <a:p>
          <a:endParaRPr lang="en-US"/>
        </a:p>
      </dgm:t>
    </dgm:pt>
    <dgm:pt modelId="{B3CDF1A0-49AE-4441-9A90-73574661EBBC}">
      <dgm:prSet/>
      <dgm:spPr/>
      <dgm:t>
        <a:bodyPr/>
        <a:lstStyle/>
        <a:p>
          <a:r>
            <a:rPr lang="en-US"/>
            <a:t>OpenStreetMaps – Making a real-life implementation of this would simply be time consuming. This was overlooked as we did not think it would be too complex.</a:t>
          </a:r>
        </a:p>
      </dgm:t>
    </dgm:pt>
    <dgm:pt modelId="{6835496A-DDDF-4EBC-9E00-55068B826DC8}" type="parTrans" cxnId="{55308203-468D-481C-A5AD-7DD7B8F83B32}">
      <dgm:prSet/>
      <dgm:spPr/>
      <dgm:t>
        <a:bodyPr/>
        <a:lstStyle/>
        <a:p>
          <a:endParaRPr lang="en-US"/>
        </a:p>
      </dgm:t>
    </dgm:pt>
    <dgm:pt modelId="{A5FFB0E1-FFF1-4A64-AEA8-8425B43A0722}" type="sibTrans" cxnId="{55308203-468D-481C-A5AD-7DD7B8F83B32}">
      <dgm:prSet/>
      <dgm:spPr/>
      <dgm:t>
        <a:bodyPr/>
        <a:lstStyle/>
        <a:p>
          <a:endParaRPr lang="en-US"/>
        </a:p>
      </dgm:t>
    </dgm:pt>
    <dgm:pt modelId="{17BA2CB3-2314-4DDA-BAB4-525CADE18F6F}" type="pres">
      <dgm:prSet presAssocID="{A06BCD74-7EA5-4A8A-B4F5-E4482C410356}" presName="linear" presStyleCnt="0">
        <dgm:presLayoutVars>
          <dgm:animLvl val="lvl"/>
          <dgm:resizeHandles val="exact"/>
        </dgm:presLayoutVars>
      </dgm:prSet>
      <dgm:spPr/>
    </dgm:pt>
    <dgm:pt modelId="{1F534190-76AD-4B17-A645-707B6F8B3C63}" type="pres">
      <dgm:prSet presAssocID="{999670BD-14C7-4ED0-94C4-5D85E185E1F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F2219D8-82FB-4324-9B6D-C3CC48737231}" type="pres">
      <dgm:prSet presAssocID="{8515F6A6-DC9B-454B-B85D-4E34C8C6D08D}" presName="spacer" presStyleCnt="0"/>
      <dgm:spPr/>
    </dgm:pt>
    <dgm:pt modelId="{42554931-E070-4C99-95EF-22CC0B010DF6}" type="pres">
      <dgm:prSet presAssocID="{B3CDF1A0-49AE-4441-9A90-73574661EBB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5308203-468D-481C-A5AD-7DD7B8F83B32}" srcId="{A06BCD74-7EA5-4A8A-B4F5-E4482C410356}" destId="{B3CDF1A0-49AE-4441-9A90-73574661EBBC}" srcOrd="1" destOrd="0" parTransId="{6835496A-DDDF-4EBC-9E00-55068B826DC8}" sibTransId="{A5FFB0E1-FFF1-4A64-AEA8-8425B43A0722}"/>
    <dgm:cxn modelId="{66F12132-81C5-4E8F-81AE-BBE058E05532}" srcId="{A06BCD74-7EA5-4A8A-B4F5-E4482C410356}" destId="{999670BD-14C7-4ED0-94C4-5D85E185E1FA}" srcOrd="0" destOrd="0" parTransId="{B82D3BFB-0634-4FB0-A82E-965CD25A9D99}" sibTransId="{8515F6A6-DC9B-454B-B85D-4E34C8C6D08D}"/>
    <dgm:cxn modelId="{D62A6999-83D2-4D52-B5F5-F7E154824753}" type="presOf" srcId="{B3CDF1A0-49AE-4441-9A90-73574661EBBC}" destId="{42554931-E070-4C99-95EF-22CC0B010DF6}" srcOrd="0" destOrd="0" presId="urn:microsoft.com/office/officeart/2005/8/layout/vList2"/>
    <dgm:cxn modelId="{31D9B1C9-39DE-4AAE-9357-5EC460080AAA}" type="presOf" srcId="{999670BD-14C7-4ED0-94C4-5D85E185E1FA}" destId="{1F534190-76AD-4B17-A645-707B6F8B3C63}" srcOrd="0" destOrd="0" presId="urn:microsoft.com/office/officeart/2005/8/layout/vList2"/>
    <dgm:cxn modelId="{40320FE5-FD23-48B0-8293-204F32A8451D}" type="presOf" srcId="{A06BCD74-7EA5-4A8A-B4F5-E4482C410356}" destId="{17BA2CB3-2314-4DDA-BAB4-525CADE18F6F}" srcOrd="0" destOrd="0" presId="urn:microsoft.com/office/officeart/2005/8/layout/vList2"/>
    <dgm:cxn modelId="{539C95C1-7033-4919-8F41-FDC3D716ED9E}" type="presParOf" srcId="{17BA2CB3-2314-4DDA-BAB4-525CADE18F6F}" destId="{1F534190-76AD-4B17-A645-707B6F8B3C63}" srcOrd="0" destOrd="0" presId="urn:microsoft.com/office/officeart/2005/8/layout/vList2"/>
    <dgm:cxn modelId="{6A7483AD-F353-4C36-9101-B10713E75572}" type="presParOf" srcId="{17BA2CB3-2314-4DDA-BAB4-525CADE18F6F}" destId="{CF2219D8-82FB-4324-9B6D-C3CC48737231}" srcOrd="1" destOrd="0" presId="urn:microsoft.com/office/officeart/2005/8/layout/vList2"/>
    <dgm:cxn modelId="{C1E36D22-437B-4503-B13D-44728F00E094}" type="presParOf" srcId="{17BA2CB3-2314-4DDA-BAB4-525CADE18F6F}" destId="{42554931-E070-4C99-95EF-22CC0B010DF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534190-76AD-4B17-A645-707B6F8B3C63}">
      <dsp:nvSpPr>
        <dsp:cNvPr id="0" name=""/>
        <dsp:cNvSpPr/>
      </dsp:nvSpPr>
      <dsp:spPr>
        <a:xfrm>
          <a:off x="0" y="74294"/>
          <a:ext cx="6666833" cy="2609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ACO – This algorithm was terribly inconsistent, even worse than GWO. Worked correctly 50% of the time when implemented. </a:t>
          </a:r>
        </a:p>
      </dsp:txBody>
      <dsp:txXfrm>
        <a:off x="127384" y="201678"/>
        <a:ext cx="6412065" cy="2354697"/>
      </dsp:txXfrm>
    </dsp:sp>
    <dsp:sp modelId="{42554931-E070-4C99-95EF-22CC0B010DF6}">
      <dsp:nvSpPr>
        <dsp:cNvPr id="0" name=""/>
        <dsp:cNvSpPr/>
      </dsp:nvSpPr>
      <dsp:spPr>
        <a:xfrm>
          <a:off x="0" y="2770160"/>
          <a:ext cx="6666833" cy="2609465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OpenStreetMaps – Making a real-life implementation of this would simply be time consuming. This was overlooked as we did not think it would be too complex.</a:t>
          </a:r>
        </a:p>
      </dsp:txBody>
      <dsp:txXfrm>
        <a:off x="127384" y="2897544"/>
        <a:ext cx="6412065" cy="2354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F044D-ED56-4C6A-A003-885264700605}" type="datetimeFigureOut"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7FC6E-4C51-42D5-A0EA-5A14F07C8C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24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7FC6E-4C51-42D5-A0EA-5A14F07C8C77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51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428326-542D-E0E1-C520-8BC12388E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Network Routing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EA553-498B-9691-9A45-2140CD167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Franklin Sintic &amp; Miller Kites</a:t>
            </a:r>
          </a:p>
        </p:txBody>
      </p:sp>
      <p:sp>
        <p:nvSpPr>
          <p:cNvPr id="41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67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69589-D936-07B3-FE8F-B51AA64D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7498A8-879C-F71D-C456-96C5F899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Introduction to the Problem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E8BDE-8C8E-C1F9-B296-10CADEAF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The Network Routing Optimization problem is essentially determining the most efficient path for data whilst minimizing cost and delay.</a:t>
            </a:r>
          </a:p>
          <a:p>
            <a:r>
              <a:rPr lang="en-US" sz="2200"/>
              <a:t>This is be represented by graphs and graph traversal algorithms.</a:t>
            </a:r>
          </a:p>
        </p:txBody>
      </p:sp>
      <p:pic>
        <p:nvPicPr>
          <p:cNvPr id="4" name="Picture 3" descr="How to Use GPS Effectively: Unlock The Full Potential">
            <a:extLst>
              <a:ext uri="{FF2B5EF4-FFF2-40B4-BE49-F238E27FC236}">
                <a16:creationId xmlns:a16="http://schemas.microsoft.com/office/drawing/2014/main" id="{55EDDBC6-79EE-551A-93B5-041DD2398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30" r="2235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2141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345D5-4422-8526-1FDD-46D06345E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Project Scope and Goals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D433F-A0C9-B8F2-D25C-2CA3B1C5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Implement at least 3 standard algorithms.</a:t>
            </a:r>
          </a:p>
          <a:p>
            <a:r>
              <a:rPr lang="en-US" sz="2400"/>
              <a:t>Implements at least 1 nature-inspired algorithm.</a:t>
            </a:r>
          </a:p>
          <a:p>
            <a:r>
              <a:rPr lang="en-US" sz="2400"/>
              <a:t>Compare runtime and efficiency between them with either -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Synthetic Graphs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OpenStreetMaps – The Goal with this is to provide a "real-life" example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75102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F9B80-D7B5-BD73-1BE4-1A58E044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ins pinned on a white surface and connecting a black thread">
            <a:extLst>
              <a:ext uri="{FF2B5EF4-FFF2-40B4-BE49-F238E27FC236}">
                <a16:creationId xmlns:a16="http://schemas.microsoft.com/office/drawing/2014/main" id="{3774FBB5-7B34-9B22-2786-4CC767FBAA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2" r="35379" b="-3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7BEAE7-6E54-EE3C-01F1-CFB610C8E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Dijkstra &amp; Bellman-Ford Algorithms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8019B-6F2E-E100-6F7D-093EDD90E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/>
              <a:t>Dijkstra's Algorithm: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/>
              <a:t>Calculates the minimum cost from a source node to every other node in the graph.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/>
              <a:t>We can adjust this to make it print the shortest path to our desired node</a:t>
            </a:r>
          </a:p>
          <a:p>
            <a:r>
              <a:rPr lang="en-US" sz="1700"/>
              <a:t>Bellman-Ford Algorithm: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/>
              <a:t>Functions the same as Dijkstra, however it is able to compute negative weights.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/>
              <a:t>We didn’t add any negative weights in testing or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76615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87F95-B4D7-C714-AB40-8DA47565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80B1-9821-226B-ECD7-A871CE8F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A* Algorithm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C62BFE4-DC59-37D3-9708-6D1F00A579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2" b="1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C3C4F-3B07-30A4-F12B-AECD08A0A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500"/>
              <a:t>A* Algorithm: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/>
              <a:t>Finds shortest path from one node to another.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/>
              <a:t>It does not search through the nodes like Dijkstra, instead uses a heurstic.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/>
              <a:t>f(n) = g(n)+h(n)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/>
              <a:t>g(n) = total path cost from start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/>
              <a:t>h(n) = cost remaining to get to target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/>
              <a:t>Heuristics Options in Code: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/>
              <a:t>Return 1: Slight guidance, follows Dijkstra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/>
              <a:t>Return 0: Exactly like Dijkstra</a:t>
            </a:r>
          </a:p>
        </p:txBody>
      </p:sp>
    </p:spTree>
    <p:extLst>
      <p:ext uri="{BB962C8B-B14F-4D97-AF65-F5344CB8AC3E}">
        <p14:creationId xmlns:p14="http://schemas.microsoft.com/office/powerpoint/2010/main" val="2214550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4E1E3B-3988-4F17-A034-DD6CB49E1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GWO Algorithm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0608D-359F-D311-E2B5-68017AA81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/>
              <a:t>Grey Wolf Algorithm simulates a wolf pack. In code, it generates as many solutions and keeps the best one found.</a:t>
            </a:r>
          </a:p>
          <a:p>
            <a:r>
              <a:rPr lang="en-US" sz="1600"/>
              <a:t>Over iterations, each wolf generated a random path from one node to another. After comparison, that was set as the best path.</a:t>
            </a:r>
          </a:p>
          <a:p>
            <a:r>
              <a:rPr lang="en-US" sz="1600"/>
              <a:t>Included for inclusion of a nature-inspired algorithm and to compare the 2 heurstic algorithms.</a:t>
            </a:r>
          </a:p>
          <a:p>
            <a:pPr marL="457200" lvl="1" indent="0">
              <a:buNone/>
            </a:pPr>
            <a:endParaRPr lang="en-US" sz="160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9192E98-8BEA-E5E2-F15E-30726CB24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731485"/>
            <a:ext cx="6922008" cy="349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08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AD038-CBD6-59D2-9D8B-C66E22E9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/>
              <a:t>ACO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F3A15-75DF-634F-1D60-A0D2E1AC5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The Ant Colony Optimization algorithm takes an approach to how ants leave pheromones to certain paths they take to food.</a:t>
            </a:r>
          </a:p>
          <a:p>
            <a:r>
              <a:rPr lang="en-US" sz="2000"/>
              <a:t>In code, after many ants use a path, it leaves a "pheromone strength", which will make it the higher priority path – future ants will take this path.</a:t>
            </a:r>
          </a:p>
          <a:p>
            <a:r>
              <a:rPr lang="en-US" sz="2000"/>
              <a:t>Over iterations, one path gets highlighted with the pheromones.</a:t>
            </a:r>
          </a:p>
        </p:txBody>
      </p:sp>
      <p:pic>
        <p:nvPicPr>
          <p:cNvPr id="4" name="Picture 3" descr="Intelligent selective disassembly using the ant colony algorithm | AI EDAM  | Cambridge Core">
            <a:extLst>
              <a:ext uri="{FF2B5EF4-FFF2-40B4-BE49-F238E27FC236}">
                <a16:creationId xmlns:a16="http://schemas.microsoft.com/office/drawing/2014/main" id="{2357387B-FCF2-75A8-5074-5BA7B6D0A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455302"/>
            <a:ext cx="4788505" cy="321513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03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83133-EF8E-3D36-2958-8930E30B7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Small Size Runtime</a:t>
            </a:r>
          </a:p>
        </p:txBody>
      </p:sp>
      <p:pic>
        <p:nvPicPr>
          <p:cNvPr id="4" name="Picture 3" descr="A graph of blue bars&#10;&#10;AI-generated content may be incorrect.">
            <a:extLst>
              <a:ext uri="{FF2B5EF4-FFF2-40B4-BE49-F238E27FC236}">
                <a16:creationId xmlns:a16="http://schemas.microsoft.com/office/drawing/2014/main" id="{FBA4D28A-5A5D-E5D0-4C02-20CAE000F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256086"/>
            <a:ext cx="5131088" cy="38483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19339-33EA-BE55-8C25-23BCCA6A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92573"/>
            <a:ext cx="5131087" cy="384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95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CF471-B8B2-BF2B-7A96-56C7345E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97B8A-85E8-E2A5-557B-FC49025C4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Medium Size Runtime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68C59-B91D-7ED4-7A92-05D58524A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256086"/>
            <a:ext cx="5131088" cy="38483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151947-AC74-7B92-98C1-6EB7B51F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92573"/>
            <a:ext cx="5131087" cy="384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453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F313E0-C4F8-3F76-7AEB-8A070028C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D7E77-A648-22F7-8E02-8616F0991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Large Size Runtime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1729B-D8A8-8F83-C2A6-E9CF6F458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384364"/>
            <a:ext cx="5131088" cy="3591761"/>
          </a:xfrm>
          <a:prstGeom prst="rect">
            <a:avLst/>
          </a:prstGeom>
        </p:spPr>
      </p:pic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1476973-7232-FE95-908E-94E703672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60504"/>
            <a:ext cx="5131087" cy="391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6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345D5-4422-8526-1FDD-46D06345E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Average Runtime</a:t>
            </a:r>
          </a:p>
        </p:txBody>
      </p:sp>
      <p:pic>
        <p:nvPicPr>
          <p:cNvPr id="8" name="Picture 7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6EA5A633-92D7-9061-F00D-5BCFAE439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256086"/>
            <a:ext cx="5131088" cy="3848316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E4E0A1B8-A84B-2816-6BE2-8995DBF9C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92573"/>
            <a:ext cx="5131087" cy="384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37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53FA2-F067-30F7-557E-60D4279F4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Went Wrong?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EFD467-0B15-6FC7-D3D8-B234FD8B91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457361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3640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0B952-CA9F-651B-DA93-CB15EC4BB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References: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981B6-3169-B6DC-C6C8-403D8CBAE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ea typeface="+mn-lt"/>
                <a:cs typeface="+mn-lt"/>
              </a:rPr>
              <a:t>Generative AI (ChatGPT, CoPilot, etc.) </a:t>
            </a:r>
          </a:p>
          <a:p>
            <a:r>
              <a:rPr lang="en-US">
                <a:ea typeface="+mn-lt"/>
                <a:cs typeface="+mn-lt"/>
              </a:rPr>
              <a:t>geeksforgeeks.org – A* algorithm base code </a:t>
            </a:r>
          </a:p>
          <a:p>
            <a:r>
              <a:rPr lang="en-US">
                <a:ea typeface="+mn-lt"/>
                <a:cs typeface="+mn-lt"/>
              </a:rPr>
              <a:t>google.com – to search for pseudocode </a:t>
            </a:r>
          </a:p>
          <a:p>
            <a:r>
              <a:rPr lang="en-US">
                <a:ea typeface="+mn-lt"/>
                <a:cs typeface="+mn-lt"/>
              </a:rPr>
              <a:t>Lecture Notes (Dr. Radian)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81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B7924-1179-BBCB-421B-22110C90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QnA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8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Network Routing Optimization</vt:lpstr>
      <vt:lpstr>Introduction to the Problem</vt:lpstr>
      <vt:lpstr>Project Scope and Goals</vt:lpstr>
      <vt:lpstr>Dijkstra &amp; Bellman-Ford Algorithms</vt:lpstr>
      <vt:lpstr>A* Algorithm</vt:lpstr>
      <vt:lpstr>GWO Algorithm</vt:lpstr>
      <vt:lpstr>ACO Algorithm</vt:lpstr>
      <vt:lpstr>Small Size Runtime</vt:lpstr>
      <vt:lpstr>Medium Size Runtime</vt:lpstr>
      <vt:lpstr>Large Size Runtime</vt:lpstr>
      <vt:lpstr>Average Runtime</vt:lpstr>
      <vt:lpstr>What Went Wrong?</vt:lpstr>
      <vt:lpstr>References:</vt:lpstr>
      <vt:lpstr>QnA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50</cp:revision>
  <dcterms:created xsi:type="dcterms:W3CDTF">2026-04-26T19:11:17Z</dcterms:created>
  <dcterms:modified xsi:type="dcterms:W3CDTF">2026-04-30T16:21:29Z</dcterms:modified>
</cp:coreProperties>
</file>